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52"/>
          </a:solidFill>
          <a:ln w="12700">
            <a:solidFill>
              <a:srgbClr val="1D5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6437376"/>
            <a:ext cx="12045391" cy="420624"/>
          </a:xfrm>
          <a:prstGeom prst="rect">
            <a:avLst/>
          </a:prstGeom>
          <a:solidFill>
            <a:srgbClr val="123B36"/>
          </a:solidFill>
          <a:ln w="12700">
            <a:solidFill>
              <a:srgbClr val="123B3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36"/>
          </a:solidFill>
          <a:ln w="12700">
            <a:solidFill>
              <a:srgbClr val="123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909560" y="-1005840"/>
            <a:ext cx="5303520" cy="5303520"/>
          </a:xfrm>
          <a:prstGeom prst="arc">
            <a:avLst/>
          </a:prstGeom>
          <a:noFill/>
          <a:ln w="88900">
            <a:solidFill>
              <a:srgbClr val="2F8B7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869680" y="2423160"/>
            <a:ext cx="4389120" cy="4389120"/>
          </a:xfrm>
          <a:prstGeom prst="arc">
            <a:avLst/>
          </a:prstGeom>
          <a:noFill/>
          <a:ln w="38100">
            <a:solidFill>
              <a:srgbClr val="E7B64C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66928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3550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К ЗАЩИТЕ В УПРАВЛЯЮЩЕЙ КОМПАНИИ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Паспорт проекта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внедрения ИИ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94944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E3D7"/>
                </a:solidFill>
              </a:rPr>
              <a:t>ООО «НЭК ТЕХ»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" y="37947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7E2"/>
                </a:solidFill>
              </a:rPr>
              <a:t>Управляемое внедрение: эффект для бизнеса + контроль данных и рисков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" y="6099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C4BC"/>
                </a:solidFill>
              </a:rPr>
              <a:t>Рабочая версия · июль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F8B7B"/>
                </a:solidFill>
              </a:rPr>
              <a:t>КОНТЕКСТ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02C"/>
                </a:solidFill>
              </a:rPr>
              <a:t>Почему проект нужен сейчас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ООО «НЭК ТЕХ» · Проект внедрения ИИ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5488" y="1417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46F"/>
                </a:solidFill>
              </a:rPr>
              <a:t>Не «внедрение ИИ ради ИИ», а переход от стихийного использования к управляемому портфелю сценариев.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" y="20574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  <a:effectLst>
            <a:outerShdw sx="100000" sy="100000" kx="0" ky="0" algn="bl" rotWithShape="0" blurRad="25400" dist="50800" dir="2700000">
              <a:srgbClr val="6B827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2057400"/>
            <a:ext cx="91440" cy="3246120"/>
          </a:xfrm>
          <a:prstGeom prst="rect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23113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2C"/>
                </a:solidFill>
              </a:rPr>
              <a:t>Эффективность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0664" y="2660904"/>
            <a:ext cx="30449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46F"/>
                </a:solidFill>
              </a:rPr>
              <a:t>Документы, поиск знаний, обращения, отчётность и аналитика содержат повторяющуюся ручную работу. Потенциал — скорость, качество и контроль.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9976" y="20574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  <a:effectLst>
            <a:outerShdw sx="100000" sy="100000" kx="0" ky="0" algn="bl" rotWithShape="0" blurRad="25400" dist="50800" dir="2700000">
              <a:srgbClr val="6B827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9976" y="2057400"/>
            <a:ext cx="91440" cy="3246120"/>
          </a:xfrm>
          <a:prstGeom prst="rect">
            <a:avLst/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3113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2C"/>
                </a:solidFill>
              </a:rPr>
              <a:t>Распределённость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08576" y="2660904"/>
            <a:ext cx="30449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46F"/>
                </a:solidFill>
              </a:rPr>
              <a:t>~350 сотрудников в пяти городах. Единая база знаний и единые правила работы уменьшают потери на поиск и расхождения.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47888" y="20574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  <a:effectLst>
            <a:outerShdw sx="100000" sy="100000" kx="0" ky="0" algn="bl" rotWithShape="0" blurRad="25400" dist="50800" dir="2700000">
              <a:srgbClr val="6B827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2057400"/>
            <a:ext cx="91440" cy="3246120"/>
          </a:xfrm>
          <a:prstGeom prst="rect">
            <a:avLst/>
          </a:prstGeom>
          <a:solidFill>
            <a:srgbClr val="D46A58"/>
          </a:solidFill>
          <a:ln w="12700">
            <a:solidFill>
              <a:srgbClr val="D46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23113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2C"/>
                </a:solidFill>
              </a:rPr>
              <a:t>Риск shadow AI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76488" y="2660904"/>
            <a:ext cx="30449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46F"/>
                </a:solidFill>
              </a:rPr>
              <a:t>Публичные сервисы создают неконтролируемый канал для ПДн, КТ и конфиденциальной информации. Нужны разрешённые инструменты и правила.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F8B7B"/>
                </a:solidFill>
              </a:rPr>
              <a:t>ПРИНЦИП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02C"/>
                </a:solidFill>
              </a:rPr>
              <a:t>Предлагаемый подход: управляемый и измеримый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ООО «НЭК ТЕХ» · Проект внедрения ИИ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5488" y="13533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B36"/>
                </a:solidFill>
              </a:rPr>
              <a:t>AI inside controlled perimeter — чувствительные данные не покидают разрешённую среду обработки.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64208" y="2084832"/>
            <a:ext cx="1225296" cy="1225296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24414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05256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02C"/>
                </a:solidFill>
              </a:rPr>
              <a:t>Эффект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0746F"/>
                </a:solidFill>
              </a:rPr>
              <a:t>Сценарий запускается только при понятной боли, владельце процесса и метрике «до / после».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468112" y="2084832"/>
            <a:ext cx="1225296" cy="1225296"/>
          </a:xfrm>
          <a:prstGeom prst="ellipse">
            <a:avLst/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2" y="24414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091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02C"/>
                </a:solidFill>
              </a:rPr>
              <a:t>Безопасность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3712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0746F"/>
                </a:solidFill>
              </a:rPr>
              <a:t>Класс данных, контур, доступы, журналы и проверка человеком определяются до пилота.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9272016" y="2084832"/>
            <a:ext cx="1225296" cy="1225296"/>
          </a:xfrm>
          <a:prstGeom prst="ellipse">
            <a:avLst/>
          </a:prstGeom>
          <a:solidFill>
            <a:srgbClr val="D46A58"/>
          </a:solidFill>
          <a:ln w="12700">
            <a:solidFill>
              <a:srgbClr val="D46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24414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13064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02C"/>
                </a:solidFill>
              </a:rPr>
              <a:t>Масштабируемость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7616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0746F"/>
                </a:solidFill>
              </a:rPr>
              <a:t>Решение о развитии принимается по результатам пилота, а не по обещаниям поставщика.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F8B7B"/>
                </a:solidFill>
              </a:rPr>
              <a:t>ГРАНИЦЫ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02C"/>
                </a:solidFill>
              </a:rPr>
              <a:t>Первый этап: обследование приоритетных подразделений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ООО «НЭК ТЕХ» · Проект внедрения ИИ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5488" y="137160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46F"/>
                </a:solidFill>
              </a:rPr>
              <a:t>Цель — собрать реальные боли, данные, ограничения и владельцев, а затем выбрать 2–3 пилота.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20848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2350008"/>
            <a:ext cx="475488" cy="475488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4780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53896" y="2350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ИБ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29535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46F"/>
                </a:solidFill>
              </a:rPr>
              <a:t>рамки, данные, допуск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2148840"/>
            <a:ext cx="20848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2350008"/>
            <a:ext cx="475488" cy="475488"/>
          </a:xfrm>
          <a:prstGeom prst="ellipse">
            <a:avLst/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4780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22776" y="2350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ИТ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9272" y="29535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46F"/>
                </a:solidFill>
              </a:rPr>
              <a:t>инфраструктура, Service Desk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23560" y="2148840"/>
            <a:ext cx="20848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88152" y="2350008"/>
            <a:ext cx="475488" cy="475488"/>
          </a:xfrm>
          <a:prstGeom prst="ellipse">
            <a:avLst/>
          </a:prstGeom>
          <a:solidFill>
            <a:srgbClr val="D46A58"/>
          </a:solidFill>
          <a:ln w="12700">
            <a:solidFill>
              <a:srgbClr val="D46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88152" y="24780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91656" y="2350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Разработка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88152" y="29535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46F"/>
                </a:solidFill>
              </a:rPr>
              <a:t>код и техдокументация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92440" y="2148840"/>
            <a:ext cx="20848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7032" y="2350008"/>
            <a:ext cx="475488" cy="475488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24780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0536" y="2350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Финансы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57032" y="29535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46F"/>
                </a:solidFill>
              </a:rPr>
              <a:t>аналитика, контроль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20240" y="4160520"/>
            <a:ext cx="20848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84832" y="4361688"/>
            <a:ext cx="475488" cy="475488"/>
          </a:xfrm>
          <a:prstGeom prst="ellipse">
            <a:avLst/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44897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88336" y="4361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Бухгалтерия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84832" y="49651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46F"/>
                </a:solidFill>
              </a:rPr>
              <a:t>первичка, сверки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0" y="4160520"/>
            <a:ext cx="20848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4361688"/>
            <a:ext cx="475488" cy="475488"/>
          </a:xfrm>
          <a:prstGeom prst="ellipse">
            <a:avLst/>
          </a:prstGeom>
          <a:solidFill>
            <a:srgbClr val="D46A58"/>
          </a:solidFill>
          <a:ln w="12700">
            <a:solidFill>
              <a:srgbClr val="D46A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44897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57216" y="4361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PR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53712" y="49651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46F"/>
                </a:solidFill>
              </a:rPr>
              <a:t>контент, мониторинг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0" y="4160520"/>
            <a:ext cx="20848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22592" y="4361688"/>
            <a:ext cx="475488" cy="475488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44897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26096" y="4361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GR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22592" y="49651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46F"/>
                </a:solidFill>
              </a:rPr>
              <a:t>НПА, справки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F8B7B"/>
                </a:solidFill>
              </a:rPr>
              <a:t>ПЕРВЫЕ РЕЗУЛЬТАТЫ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02C"/>
                </a:solidFill>
              </a:rPr>
              <a:t>Стартовый портфель пилотов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ООО «НЭК ТЕХ» · Проект внедрения ИИ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12064" y="1600200"/>
            <a:ext cx="3474720" cy="358444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  <a:effectLst>
            <a:outerShdw sx="100000" sy="100000" kx="0" ky="0" algn="bl" rotWithShape="0" blurRad="25400" dist="50800" dir="2700000">
              <a:srgbClr val="6B827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600200"/>
            <a:ext cx="91440" cy="3584448"/>
          </a:xfrm>
          <a:prstGeom prst="rect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77393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302C"/>
                </a:solidFill>
              </a:rPr>
              <a:t>Пилот 1 · публичный мониторинг PR/GR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" y="2203704"/>
            <a:ext cx="309067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46F"/>
                </a:solidFill>
              </a:rPr>
              <a:t>Сбор и резюмирование открытой повестки, тематическая классификация, дайджесты.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60746F"/>
                </a:solidFill>
              </a:rPr>
              <a:t>Преимущество: быстрый результат при минимальном ИБ-риске.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474720" cy="358444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  <a:effectLst>
            <a:outerShdw sx="100000" sy="100000" kx="0" ky="0" algn="bl" rotWithShape="0" blurRad="25400" dist="50800" dir="2700000">
              <a:srgbClr val="6B827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600200"/>
            <a:ext cx="91440" cy="3584448"/>
          </a:xfrm>
          <a:prstGeom prst="rect">
            <a:avLst/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77393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302C"/>
                </a:solidFill>
              </a:rPr>
              <a:t>Пилот 2 · AI-ассистент по базе знаний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203704"/>
            <a:ext cx="309067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46F"/>
                </a:solidFill>
              </a:rPr>
              <a:t>Ответы по внутренним регламентам с обязательными ссылками на источники и ролевым доступом.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60746F"/>
                </a:solidFill>
              </a:rPr>
              <a:t>Контур: RAG внутри разрешённой среды.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8211312" y="1600200"/>
            <a:ext cx="3474720" cy="358444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  <a:effectLst>
            <a:outerShdw sx="100000" sy="100000" kx="0" ky="0" algn="bl" rotWithShape="0" blurRad="25400" dist="50800" dir="2700000">
              <a:srgbClr val="6B827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11312" y="1600200"/>
            <a:ext cx="91440" cy="3584448"/>
          </a:xfrm>
          <a:prstGeom prst="rect">
            <a:avLst/>
          </a:prstGeom>
          <a:solidFill>
            <a:srgbClr val="D46A58"/>
          </a:solidFill>
          <a:ln w="12700">
            <a:solidFill>
              <a:srgbClr val="D46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77393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302C"/>
                </a:solidFill>
              </a:rPr>
              <a:t>Пилот 3 · Service Desk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9912" y="2203704"/>
            <a:ext cx="309067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46F"/>
                </a:solidFill>
              </a:rPr>
              <a:t>Классификация заявок, поиск решений и помощь оператору.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60746F"/>
                </a:solidFill>
              </a:rPr>
              <a:t>Эффект: время ответа, нагрузка и качество классификации.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694944" y="55961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i="1" dirty="0">
                <a:solidFill>
                  <a:srgbClr val="60746F"/>
                </a:solidFill>
              </a:rPr>
              <a:t>Бухгалтерская первичка — кандидат следующей волны после оценки ПДн/КТ, интеграций и качества данных.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F8B7B"/>
                </a:solidFill>
              </a:rPr>
              <a:t>STAGE-GATE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02C"/>
                </a:solidFill>
              </a:rPr>
              <a:t>Гибкий roadmap: сроки от решения, а не «по календарю»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ООО «НЭК ТЕХ» · Проект внедрения ИИ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5488" y="135331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0746F"/>
                </a:solidFill>
              </a:rPr>
              <a:t>T0 = формальное одобрение управляющей компании. До T0 идёт подготовка и защита паспорта; календарные даты не фиксируются.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30352" y="2423160"/>
            <a:ext cx="694944" cy="694944"/>
          </a:xfrm>
          <a:prstGeom prst="ellipse">
            <a:avLst/>
          </a:prstGeom>
          <a:solidFill>
            <a:srgbClr val="123B36"/>
          </a:solidFill>
          <a:ln w="12700">
            <a:solidFill>
              <a:srgbClr val="123B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63347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43584" y="2761488"/>
            <a:ext cx="1078992" cy="0"/>
          </a:xfrm>
          <a:prstGeom prst="line">
            <a:avLst/>
          </a:prstGeom>
          <a:noFill/>
          <a:ln w="25400">
            <a:solidFill>
              <a:srgbClr val="BDE3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34015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02C"/>
                </a:solidFill>
              </a:rPr>
              <a:t>Защита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" y="3794760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B7B"/>
                </a:solidFill>
              </a:rPr>
              <a:t>до T0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4151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46F"/>
                </a:solidFill>
              </a:rPr>
              <a:t>решение УК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331720" y="2423160"/>
            <a:ext cx="694944" cy="694944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63347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44952" y="2761488"/>
            <a:ext cx="1078992" cy="0"/>
          </a:xfrm>
          <a:prstGeom prst="line">
            <a:avLst/>
          </a:prstGeom>
          <a:noFill/>
          <a:ln w="25400">
            <a:solidFill>
              <a:srgbClr val="BDE3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34015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02C"/>
                </a:solidFill>
              </a:rPr>
              <a:t>Мобилизация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84832" y="3794760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B7B"/>
                </a:solidFill>
              </a:rPr>
              <a:t>T0 + 0–2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4151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46F"/>
                </a:solidFill>
              </a:rPr>
              <a:t>роли и план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261104" y="2423160"/>
            <a:ext cx="694944" cy="694944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263347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74336" y="2761488"/>
            <a:ext cx="1078992" cy="0"/>
          </a:xfrm>
          <a:prstGeom prst="line">
            <a:avLst/>
          </a:prstGeom>
          <a:noFill/>
          <a:ln w="25400">
            <a:solidFill>
              <a:srgbClr val="BDE3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5656" y="34015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02C"/>
                </a:solidFill>
              </a:rPr>
              <a:t>Обследование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14216" y="3794760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B7B"/>
                </a:solidFill>
              </a:rPr>
              <a:t>T0 + 2–6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86784" y="4151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46F"/>
                </a:solidFill>
              </a:rPr>
              <a:t>процессы и данные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190488" y="2423160"/>
            <a:ext cx="694944" cy="694944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263347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2761488"/>
            <a:ext cx="1078992" cy="0"/>
          </a:xfrm>
          <a:prstGeom prst="line">
            <a:avLst/>
          </a:prstGeom>
          <a:noFill/>
          <a:ln w="25400">
            <a:solidFill>
              <a:srgbClr val="BDE3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4015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02C"/>
                </a:solidFill>
              </a:rPr>
              <a:t>Пилоты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0" y="3794760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B7B"/>
                </a:solidFill>
              </a:rPr>
              <a:t>T0 + 5–8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16168" y="4151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46F"/>
                </a:solidFill>
              </a:rPr>
              <a:t>выбор и допуск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119872" y="2423160"/>
            <a:ext cx="694944" cy="694944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9872" y="263347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33104" y="2761488"/>
            <a:ext cx="1078992" cy="0"/>
          </a:xfrm>
          <a:prstGeom prst="line">
            <a:avLst/>
          </a:prstGeom>
          <a:noFill/>
          <a:ln w="25400">
            <a:solidFill>
              <a:srgbClr val="BDE3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64424" y="34015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02C"/>
                </a:solidFill>
              </a:rPr>
              <a:t>Запуск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872984" y="3794760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B7B"/>
                </a:solidFill>
              </a:rPr>
              <a:t>T0 + 7–14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45552" y="4151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46F"/>
                </a:solidFill>
              </a:rPr>
              <a:t>MVP и метрики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10049256" y="2423160"/>
            <a:ext cx="694944" cy="694944"/>
          </a:xfrm>
          <a:prstGeom prst="ellipse">
            <a:avLst/>
          </a:prstGeom>
          <a:solidFill>
            <a:srgbClr val="D46A58"/>
          </a:solidFill>
          <a:ln w="12700">
            <a:solidFill>
              <a:srgbClr val="D46A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49256" y="263347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893808" y="34015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02C"/>
                </a:solidFill>
              </a:rPr>
              <a:t>Решение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802368" y="3794760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B7B"/>
                </a:solidFill>
              </a:rPr>
              <a:t>T0 + 13–16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774936" y="4151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46F"/>
                </a:solidFill>
              </a:rPr>
              <a:t>масштаб / стоп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58368" y="5193792"/>
            <a:ext cx="10744200" cy="502920"/>
          </a:xfrm>
          <a:prstGeom prst="roundRect">
            <a:avLst>
              <a:gd name="adj" fmla="val 9091"/>
            </a:avLst>
          </a:prstGeom>
          <a:solidFill>
            <a:srgbClr val="E6F2EE"/>
          </a:solidFill>
          <a:ln w="12700">
            <a:solidFill>
              <a:srgbClr val="CBE1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" y="5358384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B36"/>
                </a:solidFill>
              </a:rPr>
              <a:t>Переход между этапами — только после результата и управленческого решения. Задержка одного сценария не останавливает весь портфель.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F8B7B"/>
                </a:solidFill>
              </a:rPr>
              <a:t>УПРАВЛЕНИЕ ЭФФЕКТОМ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02C"/>
                </a:solidFill>
              </a:rPr>
              <a:t>Как измерим результат и примем решение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ООО «НЭК ТЕХ» · Проект внедрения ИИ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2331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4752" y="2084832"/>
            <a:ext cx="694944" cy="694944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2295144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Экономия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часы ручной работы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до / после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331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084832"/>
            <a:ext cx="694944" cy="694944"/>
          </a:xfrm>
          <a:prstGeom prst="ellipse">
            <a:avLst/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295144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Скорость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время обработки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заявки или документа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27648" y="1783080"/>
            <a:ext cx="2331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0608" y="2084832"/>
            <a:ext cx="694944" cy="694944"/>
          </a:xfrm>
          <a:prstGeom prst="ellipse">
            <a:avLst/>
          </a:prstGeom>
          <a:solidFill>
            <a:srgbClr val="D46A58"/>
          </a:solidFill>
          <a:ln w="12700">
            <a:solidFill>
              <a:srgbClr val="D46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2295144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0528" y="3017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Качество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ошибки, возвраты,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полнота результата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80576" y="1783080"/>
            <a:ext cx="2331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D7E1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3536" y="2084832"/>
            <a:ext cx="694944" cy="694944"/>
          </a:xfrm>
          <a:prstGeom prst="ellipse">
            <a:avLst/>
          </a:prstGeom>
          <a:solidFill>
            <a:srgbClr val="123B36"/>
          </a:solidFill>
          <a:ln w="12700">
            <a:solidFill>
              <a:srgbClr val="123B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03536" y="2295144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63456" y="3017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2C"/>
                </a:solidFill>
              </a:rPr>
              <a:t>Использование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45168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активные пользователи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46F"/>
                </a:solidFill>
              </a:rPr>
              <a:t>и доля закрытых запросов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0976" y="468172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36"/>
                </a:solidFill>
              </a:rPr>
              <a:t>Правило: масштабируем только то, что показало подтверждённый эффект, соблюло ИБ-требования и получило владельца эксплуатации.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9E7E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36"/>
          </a:solidFill>
          <a:ln w="12700">
            <a:solidFill>
              <a:srgbClr val="123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21792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903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РЕШЕНИЕ G0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Что требуется утвердить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30352" cy="530352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973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99616" y="23591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302C"/>
                </a:solidFill>
              </a:rPr>
              <a:t>Запуск первого этапа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9616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46F"/>
                </a:solidFill>
              </a:rPr>
              <a:t>Обследование и подготовка пилотов после защиты паспорта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822960" y="3127248"/>
            <a:ext cx="530352" cy="530352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552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9616" y="31546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302C"/>
                </a:solidFill>
              </a:rPr>
              <a:t>Роли и мандат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99616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46F"/>
                </a:solidFill>
              </a:rPr>
              <a:t>Бизнес-заказчик, спонсор, руководитель проекта, порядок AI-комитета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22960" y="3922776"/>
            <a:ext cx="530352" cy="530352"/>
          </a:xfrm>
          <a:prstGeom prst="ellipse">
            <a:avLst/>
          </a:prstGeom>
          <a:solidFill>
            <a:srgbClr val="2F8B7B"/>
          </a:solidFill>
          <a:ln w="12700">
            <a:solidFill>
              <a:srgbClr val="2F8B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507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99616" y="3950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302C"/>
                </a:solidFill>
              </a:rPr>
              <a:t>Принцип безопасности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99616" y="41970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46F"/>
                </a:solidFill>
              </a:rPr>
              <a:t>Контролируемый контур для ПДн, КТ и конфиденциальных данных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22960" y="4718304"/>
            <a:ext cx="530352" cy="530352"/>
          </a:xfrm>
          <a:prstGeom prst="ellipse">
            <a:avLst/>
          </a:prstGeom>
          <a:solidFill>
            <a:srgbClr val="E7B64C"/>
          </a:solidFill>
          <a:ln w="12700">
            <a:solidFill>
              <a:srgbClr val="E7B6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99616" y="4745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302C"/>
                </a:solidFill>
              </a:rPr>
              <a:t>Портфель пилотов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99616" y="4992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46F"/>
                </a:solidFill>
              </a:rPr>
              <a:t>Отбор 2–3 сценариев с владельцами, метриками и ИБ-допуском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522208" y="1874520"/>
            <a:ext cx="2633472" cy="3364992"/>
          </a:xfrm>
          <a:prstGeom prst="roundRect">
            <a:avLst>
              <a:gd name="adj" fmla="val 3472"/>
            </a:avLst>
          </a:prstGeom>
          <a:solidFill>
            <a:srgbClr val="1E554D"/>
          </a:solidFill>
          <a:ln w="12700">
            <a:solidFill>
              <a:srgbClr val="3C78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14816" y="2267712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DE3D7"/>
                </a:solidFill>
              </a:rPr>
              <a:t>Не запрашивается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23960" y="2816352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массовая закупка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или масштабирование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без подтверждённого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эффекта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" y="61996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C4BC"/>
                </a:solidFill>
              </a:rPr>
              <a:t>Следующий шаг — управляемый старт и проверка гипотез на пилотах.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ООО «НЭК ТЕХ»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Паспорт проекта внедрения ИИ — ООО «НЭК ТЕХ»</dc:title>
  <dc:subject>Защита паспорта проекта внедрения ИИ</dc:subject>
  <dc:creator>Hermes Agent</dc:creator>
  <cp:lastModifiedBy>Hermes Agent</cp:lastModifiedBy>
  <cp:revision>1</cp:revision>
  <dcterms:created xsi:type="dcterms:W3CDTF">2026-07-14T13:59:06Z</dcterms:created>
  <dcterms:modified xsi:type="dcterms:W3CDTF">2026-07-14T13:59:06Z</dcterms:modified>
</cp:coreProperties>
</file>