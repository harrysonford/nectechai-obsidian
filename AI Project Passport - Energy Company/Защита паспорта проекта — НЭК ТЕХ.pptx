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D5B52"/>
          </a:solidFill>
          <a:ln w="12700">
            <a:solidFill>
              <a:srgbClr val="1D5B5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" y="6437376"/>
            <a:ext cx="12045391" cy="420624"/>
          </a:xfrm>
          <a:prstGeom prst="rect">
            <a:avLst/>
          </a:prstGeom>
          <a:solidFill>
            <a:srgbClr val="123B36"/>
          </a:solidFill>
          <a:ln w="12700">
            <a:solidFill>
              <a:srgbClr val="123B3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9E7E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9E7E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B36"/>
          </a:solidFill>
          <a:ln w="12700">
            <a:solidFill>
              <a:srgbClr val="123B3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500000">
            <a:off x="7909560" y="-1005840"/>
            <a:ext cx="5303520" cy="5303520"/>
          </a:xfrm>
          <a:prstGeom prst="arc">
            <a:avLst/>
          </a:prstGeom>
          <a:noFill/>
          <a:ln w="88900">
            <a:solidFill>
              <a:srgbClr val="2F8B7B">
                <a:alpha val="8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500000">
            <a:off x="8869680" y="2423160"/>
            <a:ext cx="4389120" cy="4389120"/>
          </a:xfrm>
          <a:prstGeom prst="arc">
            <a:avLst/>
          </a:prstGeom>
          <a:noFill/>
          <a:ln w="38100">
            <a:solidFill>
              <a:srgbClr val="E7B64C">
                <a:alpha val="8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566928"/>
            <a:ext cx="2057400" cy="310896"/>
          </a:xfrm>
          <a:prstGeom prst="roundRect">
            <a:avLst>
              <a:gd name="adj" fmla="val 20588"/>
            </a:avLst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35508"/>
            <a:ext cx="1874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К ЗАЩИТЕ В УПРАВЛЯЮЩЕЙ КОМПАНИИ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58368" y="1261872"/>
            <a:ext cx="6583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Паспорт проекта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внедрения ИИ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94944" y="3063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DE3D7"/>
                </a:solidFill>
              </a:rPr>
              <a:t>ООО «НЭК ТЕХ»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94944" y="379476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9E7E2"/>
                </a:solidFill>
              </a:rPr>
              <a:t>Управляемое внедрение: эффект для бизнеса + контроль данных и рисков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4944" y="6099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6C4BC"/>
                </a:solidFill>
              </a:rPr>
              <a:t>Рабочая версия · июль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38404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2F8B7B"/>
                </a:solidFill>
              </a:rPr>
              <a:t>КОНТЕКСТ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" y="68580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8302C"/>
                </a:solidFill>
              </a:rPr>
              <a:t>Почему проект нужен сейчас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040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E7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ООО «НЭК ТЕХ» · Проект внедрения ИИ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75488" y="141732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0746F"/>
                </a:solidFill>
              </a:rPr>
              <a:t>Не «внедрение ИИ ради ИИ», а переход от стихийного использования к управляемому портфелю сценариев.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12064" y="2057400"/>
            <a:ext cx="342900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12064" y="2057400"/>
            <a:ext cx="91440" cy="3246120"/>
          </a:xfrm>
          <a:prstGeom prst="rect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0664" y="2231136"/>
            <a:ext cx="3044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8302C"/>
                </a:solidFill>
              </a:rPr>
              <a:t>Эффективность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40664" y="2660904"/>
            <a:ext cx="3044952" cy="2478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0746F"/>
                </a:solidFill>
              </a:rPr>
              <a:t>Документы, поиск знаний, обращения, отчётность и аналитика содержат повторяющуюся ручную работу. Потенциал — скорость, качество и контроль.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79976" y="2057400"/>
            <a:ext cx="342900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79976" y="2057400"/>
            <a:ext cx="91440" cy="3246120"/>
          </a:xfrm>
          <a:prstGeom prst="rect">
            <a:avLst/>
          </a:prstGeom>
          <a:solidFill>
            <a:srgbClr val="E7B64C"/>
          </a:solidFill>
          <a:ln w="12700">
            <a:solidFill>
              <a:srgbClr val="E7B6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08576" y="2231136"/>
            <a:ext cx="3044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8302C"/>
                </a:solidFill>
              </a:rPr>
              <a:t>Распределённость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08576" y="2660904"/>
            <a:ext cx="3044952" cy="2478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0746F"/>
                </a:solidFill>
              </a:rPr>
              <a:t>~350 сотрудников в пяти городах. Единая база знаний и единые правила работы уменьшают потери на поиск и расхождения.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47888" y="2057400"/>
            <a:ext cx="342900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47888" y="2057400"/>
            <a:ext cx="91440" cy="3246120"/>
          </a:xfrm>
          <a:prstGeom prst="rect">
            <a:avLst/>
          </a:prstGeom>
          <a:solidFill>
            <a:srgbClr val="D46A58"/>
          </a:solidFill>
          <a:ln w="12700">
            <a:solidFill>
              <a:srgbClr val="D46A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6488" y="2231136"/>
            <a:ext cx="3044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8302C"/>
                </a:solidFill>
              </a:rPr>
              <a:t>Риск shadow AI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76488" y="2660904"/>
            <a:ext cx="3044952" cy="2478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0746F"/>
                </a:solidFill>
              </a:rPr>
              <a:t>Публичные сервисы создают неконтролируемый канал для ПДн, КТ и конфиденциальной информации. Нужны разрешённые инструменты и правила.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9E7E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38404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2F8B7B"/>
                </a:solidFill>
              </a:rPr>
              <a:t>ПРИНЦИП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" y="68580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8302C"/>
                </a:solidFill>
              </a:rPr>
              <a:t>Предлагаемый подход: управляемый и измеримый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040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E7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ООО «НЭК ТЕХ» · Проект внедрения ИИ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75488" y="1353312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B36"/>
                </a:solidFill>
              </a:rPr>
              <a:t>AI inside controlled perimeter — чувствительные данные не покидают разрешённую среду обработки.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664208" y="2084832"/>
            <a:ext cx="1225296" cy="1225296"/>
          </a:xfrm>
          <a:prstGeom prst="ellipse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64208" y="2441448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01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05256" y="3657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8302C"/>
                </a:solidFill>
              </a:rPr>
              <a:t>Эффект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49808" y="4160520"/>
            <a:ext cx="306324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60746F"/>
                </a:solidFill>
              </a:rPr>
              <a:t>Сценарий запускается только при понятной боли, владельце процесса и метрике «до / после».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5468112" y="2084832"/>
            <a:ext cx="1225296" cy="1225296"/>
          </a:xfrm>
          <a:prstGeom prst="ellipse">
            <a:avLst/>
          </a:prstGeom>
          <a:solidFill>
            <a:srgbClr val="E7B64C"/>
          </a:solidFill>
          <a:ln w="12700">
            <a:solidFill>
              <a:srgbClr val="E7B6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68112" y="2441448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02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709160" y="3657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8302C"/>
                </a:solidFill>
              </a:rPr>
              <a:t>Безопасность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53712" y="4160520"/>
            <a:ext cx="306324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60746F"/>
                </a:solidFill>
              </a:rPr>
              <a:t>Класс данных, контур, доступы, журналы и проверка человеком определяются до пилота.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9272016" y="2084832"/>
            <a:ext cx="1225296" cy="1225296"/>
          </a:xfrm>
          <a:prstGeom prst="ellipse">
            <a:avLst/>
          </a:prstGeom>
          <a:solidFill>
            <a:srgbClr val="D46A58"/>
          </a:solidFill>
          <a:ln w="12700">
            <a:solidFill>
              <a:srgbClr val="D46A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72016" y="2441448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03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513064" y="3657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8302C"/>
                </a:solidFill>
              </a:rPr>
              <a:t>Масштабируемость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57616" y="4160520"/>
            <a:ext cx="306324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60746F"/>
                </a:solidFill>
              </a:rPr>
              <a:t>Решение о развитии принимается по результатам пилота, а не по обещаниям поставщика.</a:t>
            </a:r>
            <a:endParaRPr lang="en-US" sz="12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9E7E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38404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2F8B7B"/>
                </a:solidFill>
              </a:rPr>
              <a:t>ГРАНИЦЫ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" y="68580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8302C"/>
                </a:solidFill>
              </a:rPr>
              <a:t>Первый этап: обследование приоритетных подразделений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040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E7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ООО «НЭК ТЕХ» · Проект внедрения ИИ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75488" y="1371600"/>
            <a:ext cx="9326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0746F"/>
                </a:solidFill>
              </a:rPr>
              <a:t>Цель — собрать реальные боли, данные, ограничения и владельцев, а затем выбрать 2–3 пилота.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084832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2295144"/>
            <a:ext cx="493776" cy="493776"/>
          </a:xfrm>
          <a:prstGeom prst="ellipse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4323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371600" y="2304288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302C"/>
                </a:solidFill>
              </a:rPr>
              <a:t>ИБ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49808" y="2999232"/>
            <a:ext cx="1956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рамки, данные, допуск</a:t>
            </a:r>
            <a:endParaRPr lang="en-US" sz="1130" dirty="0"/>
          </a:p>
        </p:txBody>
      </p:sp>
      <p:sp>
        <p:nvSpPr>
          <p:cNvPr id="11" name="Shape 9"/>
          <p:cNvSpPr/>
          <p:nvPr/>
        </p:nvSpPr>
        <p:spPr>
          <a:xfrm>
            <a:off x="3456432" y="2084832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39312" y="2295144"/>
            <a:ext cx="493776" cy="493776"/>
          </a:xfrm>
          <a:prstGeom prst="ellipse">
            <a:avLst/>
          </a:prstGeom>
          <a:solidFill>
            <a:srgbClr val="E7B64C"/>
          </a:solidFill>
          <a:ln w="12700">
            <a:solidFill>
              <a:srgbClr val="E7B64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39312" y="24323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61104" y="2304288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302C"/>
                </a:solidFill>
              </a:rPr>
              <a:t>ИТ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639312" y="2999232"/>
            <a:ext cx="1956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инфраструктура, Service Desk</a:t>
            </a:r>
            <a:endParaRPr lang="en-US" sz="1130" dirty="0"/>
          </a:p>
        </p:txBody>
      </p:sp>
      <p:sp>
        <p:nvSpPr>
          <p:cNvPr id="16" name="Shape 14"/>
          <p:cNvSpPr/>
          <p:nvPr/>
        </p:nvSpPr>
        <p:spPr>
          <a:xfrm>
            <a:off x="6345936" y="2084832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28816" y="2295144"/>
            <a:ext cx="493776" cy="493776"/>
          </a:xfrm>
          <a:prstGeom prst="ellipse">
            <a:avLst/>
          </a:prstGeom>
          <a:solidFill>
            <a:srgbClr val="D46A58"/>
          </a:solidFill>
          <a:ln w="12700">
            <a:solidFill>
              <a:srgbClr val="D46A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28816" y="24323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150608" y="2304288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302C"/>
                </a:solidFill>
              </a:rPr>
              <a:t>Разработка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528816" y="2999232"/>
            <a:ext cx="1956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код и техдокументация</a:t>
            </a:r>
            <a:endParaRPr lang="en-US" sz="1130" dirty="0"/>
          </a:p>
        </p:txBody>
      </p:sp>
      <p:sp>
        <p:nvSpPr>
          <p:cNvPr id="21" name="Shape 19"/>
          <p:cNvSpPr/>
          <p:nvPr/>
        </p:nvSpPr>
        <p:spPr>
          <a:xfrm>
            <a:off x="9235440" y="2084832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418320" y="2295144"/>
            <a:ext cx="493776" cy="493776"/>
          </a:xfrm>
          <a:prstGeom prst="ellipse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18320" y="24323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4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0040112" y="2304288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302C"/>
                </a:solidFill>
              </a:rPr>
              <a:t>Финансы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418320" y="2999232"/>
            <a:ext cx="1956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аналитика, контроль</a:t>
            </a:r>
            <a:endParaRPr lang="en-US" sz="1130" dirty="0"/>
          </a:p>
        </p:txBody>
      </p:sp>
      <p:sp>
        <p:nvSpPr>
          <p:cNvPr id="26" name="Shape 24"/>
          <p:cNvSpPr/>
          <p:nvPr/>
        </p:nvSpPr>
        <p:spPr>
          <a:xfrm>
            <a:off x="2011680" y="4041648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194560" y="4251960"/>
            <a:ext cx="493776" cy="493776"/>
          </a:xfrm>
          <a:prstGeom prst="ellipse">
            <a:avLst/>
          </a:prstGeom>
          <a:solidFill>
            <a:srgbClr val="E7B64C"/>
          </a:solidFill>
          <a:ln w="12700">
            <a:solidFill>
              <a:srgbClr val="E7B64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194560" y="4389120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816352" y="4261104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302C"/>
                </a:solidFill>
              </a:rPr>
              <a:t>Бухгалтерия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2194560" y="4956048"/>
            <a:ext cx="1956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первичка, сверки</a:t>
            </a:r>
            <a:endParaRPr lang="en-US" sz="1130" dirty="0"/>
          </a:p>
        </p:txBody>
      </p:sp>
      <p:sp>
        <p:nvSpPr>
          <p:cNvPr id="31" name="Shape 29"/>
          <p:cNvSpPr/>
          <p:nvPr/>
        </p:nvSpPr>
        <p:spPr>
          <a:xfrm>
            <a:off x="4928616" y="4041648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111496" y="4251960"/>
            <a:ext cx="493776" cy="493776"/>
          </a:xfrm>
          <a:prstGeom prst="ellipse">
            <a:avLst/>
          </a:prstGeom>
          <a:solidFill>
            <a:srgbClr val="D46A58"/>
          </a:solidFill>
          <a:ln w="12700">
            <a:solidFill>
              <a:srgbClr val="D46A5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11496" y="4389120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6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733288" y="4261104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302C"/>
                </a:solidFill>
              </a:rPr>
              <a:t>PR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5111496" y="4956048"/>
            <a:ext cx="1956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контент, мониторинг</a:t>
            </a:r>
            <a:endParaRPr lang="en-US" sz="1130" dirty="0"/>
          </a:p>
        </p:txBody>
      </p:sp>
      <p:sp>
        <p:nvSpPr>
          <p:cNvPr id="36" name="Shape 34"/>
          <p:cNvSpPr/>
          <p:nvPr/>
        </p:nvSpPr>
        <p:spPr>
          <a:xfrm>
            <a:off x="7845552" y="4041648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28432" y="4251960"/>
            <a:ext cx="493776" cy="493776"/>
          </a:xfrm>
          <a:prstGeom prst="ellipse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28432" y="4389120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7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650224" y="4261104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302C"/>
                </a:solidFill>
              </a:rPr>
              <a:t>GR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8028432" y="4956048"/>
            <a:ext cx="1956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НПА, справки</a:t>
            </a:r>
            <a:endParaRPr lang="en-US" sz="11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9E7E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38404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2F8B7B"/>
                </a:solidFill>
              </a:rPr>
              <a:t>ПЕРВЫЕ РЕЗУЛЬТАТЫ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" y="68580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8302C"/>
                </a:solidFill>
              </a:rPr>
              <a:t>Стартовый портфель пилотов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040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E7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ООО «НЭК ТЕХ» · Проект внедрения ИИ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2064" y="1600200"/>
            <a:ext cx="3474720" cy="3584448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12064" y="1600200"/>
            <a:ext cx="91440" cy="3584448"/>
          </a:xfrm>
          <a:prstGeom prst="rect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0664" y="1773936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8302C"/>
                </a:solidFill>
              </a:rPr>
              <a:t>Пилот 1 · публичный мониторинг PR/GR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0664" y="2203704"/>
            <a:ext cx="3090672" cy="2816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60746F"/>
                </a:solidFill>
              </a:rPr>
              <a:t>Сбор и резюмирование открытой повестки, тематическая классификация, дайджесты.</a:t>
            </a:r>
            <a:endParaRPr lang="en-US" sz="1270" dirty="0"/>
          </a:p>
          <a:p>
            <a:pPr indent="0" marL="0">
              <a:buNone/>
            </a:pP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60746F"/>
                </a:solidFill>
              </a:rPr>
              <a:t>Преимущество: быстрый результат при минимальном ИБ-риске.</a:t>
            </a:r>
            <a:endParaRPr lang="en-US" sz="1270" dirty="0"/>
          </a:p>
        </p:txBody>
      </p:sp>
      <p:sp>
        <p:nvSpPr>
          <p:cNvPr id="9" name="Shape 7"/>
          <p:cNvSpPr/>
          <p:nvPr/>
        </p:nvSpPr>
        <p:spPr>
          <a:xfrm>
            <a:off x="4361688" y="1600200"/>
            <a:ext cx="3474720" cy="3584448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61688" y="1600200"/>
            <a:ext cx="91440" cy="3584448"/>
          </a:xfrm>
          <a:prstGeom prst="rect">
            <a:avLst/>
          </a:prstGeom>
          <a:solidFill>
            <a:srgbClr val="E7B64C"/>
          </a:solidFill>
          <a:ln w="12700">
            <a:solidFill>
              <a:srgbClr val="E7B6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0288" y="1773936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8302C"/>
                </a:solidFill>
              </a:rPr>
              <a:t>Пилот 2 · AI-ассистент по базе знаний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90288" y="2203704"/>
            <a:ext cx="3090672" cy="2816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60746F"/>
                </a:solidFill>
              </a:rPr>
              <a:t>Ответы по внутренним регламентам с обязательными ссылками на источники и ролевым доступом.</a:t>
            </a:r>
            <a:endParaRPr lang="en-US" sz="1270" dirty="0"/>
          </a:p>
          <a:p>
            <a:pPr indent="0" marL="0">
              <a:buNone/>
            </a:pP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60746F"/>
                </a:solidFill>
              </a:rPr>
              <a:t>Контур: RAG внутри разрешённой среды.</a:t>
            </a:r>
            <a:endParaRPr lang="en-US" sz="1270" dirty="0"/>
          </a:p>
        </p:txBody>
      </p:sp>
      <p:sp>
        <p:nvSpPr>
          <p:cNvPr id="13" name="Shape 11"/>
          <p:cNvSpPr/>
          <p:nvPr/>
        </p:nvSpPr>
        <p:spPr>
          <a:xfrm>
            <a:off x="8211312" y="1600200"/>
            <a:ext cx="3474720" cy="3584448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11312" y="1600200"/>
            <a:ext cx="91440" cy="3584448"/>
          </a:xfrm>
          <a:prstGeom prst="rect">
            <a:avLst/>
          </a:prstGeom>
          <a:solidFill>
            <a:srgbClr val="D46A58"/>
          </a:solidFill>
          <a:ln w="12700">
            <a:solidFill>
              <a:srgbClr val="D46A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39912" y="1773936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8302C"/>
                </a:solidFill>
              </a:rPr>
              <a:t>Пилот 3 · Service Desk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39912" y="2203704"/>
            <a:ext cx="3090672" cy="2816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60746F"/>
                </a:solidFill>
              </a:rPr>
              <a:t>Классификация заявок, поиск решений и помощь оператору.</a:t>
            </a:r>
            <a:endParaRPr lang="en-US" sz="1270" dirty="0"/>
          </a:p>
          <a:p>
            <a:pPr indent="0" marL="0">
              <a:buNone/>
            </a:pP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60746F"/>
                </a:solidFill>
              </a:rPr>
              <a:t>Эффект: время ответа, нагрузка и качество классификации.</a:t>
            </a:r>
            <a:endParaRPr lang="en-US" sz="1270" dirty="0"/>
          </a:p>
        </p:txBody>
      </p:sp>
      <p:sp>
        <p:nvSpPr>
          <p:cNvPr id="17" name="Text 15"/>
          <p:cNvSpPr/>
          <p:nvPr/>
        </p:nvSpPr>
        <p:spPr>
          <a:xfrm>
            <a:off x="694944" y="559612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i="1" dirty="0">
                <a:solidFill>
                  <a:srgbClr val="60746F"/>
                </a:solidFill>
              </a:rPr>
              <a:t>Бухгалтерская первичка — кандидат следующей волны после оценки ПДн/КТ, интеграций и качества данных.</a:t>
            </a:r>
            <a:endParaRPr lang="en-US" sz="11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9E7E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38404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2F8B7B"/>
                </a:solidFill>
              </a:rPr>
              <a:t>STAGE-GATE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" y="68580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8302C"/>
                </a:solidFill>
              </a:rPr>
              <a:t>Гибкий roadmap: сроки от решения, а не «по календарю»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040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E7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ООО «НЭК ТЕХ» · Проект внедрения ИИ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75488" y="1353312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60746F"/>
                </a:solidFill>
              </a:rPr>
              <a:t>T0 = формальное одобрение управляющей компании. До T0 идёт подготовка и защита паспорта; календарные даты не фиксируются.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58368" y="2084832"/>
            <a:ext cx="3419856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58368" y="2084832"/>
            <a:ext cx="91440" cy="1298448"/>
          </a:xfrm>
          <a:prstGeom prst="rect">
            <a:avLst/>
          </a:prstGeom>
          <a:solidFill>
            <a:srgbClr val="123B36"/>
          </a:solidFill>
          <a:ln w="12700">
            <a:solidFill>
              <a:srgbClr val="123B3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258568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G0 · Защита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86968" y="2688336"/>
            <a:ext cx="3035808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до T0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решение УК</a:t>
            </a:r>
            <a:endParaRPr lang="en-US" sz="1130" dirty="0"/>
          </a:p>
        </p:txBody>
      </p:sp>
      <p:sp>
        <p:nvSpPr>
          <p:cNvPr id="10" name="Shape 8"/>
          <p:cNvSpPr/>
          <p:nvPr/>
        </p:nvSpPr>
        <p:spPr>
          <a:xfrm>
            <a:off x="4370832" y="2084832"/>
            <a:ext cx="3419856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70832" y="2084832"/>
            <a:ext cx="91440" cy="1298448"/>
          </a:xfrm>
          <a:prstGeom prst="rect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9432" y="2258568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1 · Мобилизация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9432" y="2688336"/>
            <a:ext cx="3035808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T0 + 0–2 недели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роли и план</a:t>
            </a:r>
            <a:endParaRPr lang="en-US" sz="1130" dirty="0"/>
          </a:p>
        </p:txBody>
      </p:sp>
      <p:sp>
        <p:nvSpPr>
          <p:cNvPr id="14" name="Shape 12"/>
          <p:cNvSpPr/>
          <p:nvPr/>
        </p:nvSpPr>
        <p:spPr>
          <a:xfrm>
            <a:off x="8083296" y="2084832"/>
            <a:ext cx="3419856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83296" y="2084832"/>
            <a:ext cx="91440" cy="1298448"/>
          </a:xfrm>
          <a:prstGeom prst="rect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11896" y="2258568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2 · Диагностика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11896" y="2688336"/>
            <a:ext cx="3035808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T0 + 2–6 недель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процессы и данные</a:t>
            </a:r>
            <a:endParaRPr lang="en-US" sz="1130" dirty="0"/>
          </a:p>
        </p:txBody>
      </p:sp>
      <p:sp>
        <p:nvSpPr>
          <p:cNvPr id="18" name="Shape 16"/>
          <p:cNvSpPr/>
          <p:nvPr/>
        </p:nvSpPr>
        <p:spPr>
          <a:xfrm>
            <a:off x="658368" y="3858768"/>
            <a:ext cx="3419856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8368" y="3858768"/>
            <a:ext cx="91440" cy="1298448"/>
          </a:xfrm>
          <a:prstGeom prst="rect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6968" y="4032504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3 · Выбор пилотов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6968" y="4462272"/>
            <a:ext cx="3035808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T0 + 5–8 недель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приоритеты и допуск</a:t>
            </a:r>
            <a:endParaRPr lang="en-US" sz="1130" dirty="0"/>
          </a:p>
        </p:txBody>
      </p:sp>
      <p:sp>
        <p:nvSpPr>
          <p:cNvPr id="22" name="Shape 20"/>
          <p:cNvSpPr/>
          <p:nvPr/>
        </p:nvSpPr>
        <p:spPr>
          <a:xfrm>
            <a:off x="4370832" y="3858768"/>
            <a:ext cx="3419856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370832" y="3858768"/>
            <a:ext cx="91440" cy="1298448"/>
          </a:xfrm>
          <a:prstGeom prst="rect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99432" y="4032504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4 · Запуск MVP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99432" y="4462272"/>
            <a:ext cx="3035808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T0 + 7–14 недель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MVP и метрики</a:t>
            </a:r>
            <a:endParaRPr lang="en-US" sz="1130" dirty="0"/>
          </a:p>
        </p:txBody>
      </p:sp>
      <p:sp>
        <p:nvSpPr>
          <p:cNvPr id="26" name="Shape 24"/>
          <p:cNvSpPr/>
          <p:nvPr/>
        </p:nvSpPr>
        <p:spPr>
          <a:xfrm>
            <a:off x="8083296" y="3858768"/>
            <a:ext cx="3419856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83296" y="3858768"/>
            <a:ext cx="91440" cy="1298448"/>
          </a:xfrm>
          <a:prstGeom prst="rect">
            <a:avLst/>
          </a:prstGeom>
          <a:solidFill>
            <a:srgbClr val="D46A58"/>
          </a:solidFill>
          <a:ln w="12700">
            <a:solidFill>
              <a:srgbClr val="D46A5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11896" y="4032504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G4 · Решение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311896" y="4462272"/>
            <a:ext cx="3035808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T0 + 13–16 недель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масштаб / стоп</a:t>
            </a:r>
            <a:endParaRPr lang="en-US" sz="1130" dirty="0"/>
          </a:p>
        </p:txBody>
      </p:sp>
      <p:sp>
        <p:nvSpPr>
          <p:cNvPr id="30" name="Text 28"/>
          <p:cNvSpPr/>
          <p:nvPr/>
        </p:nvSpPr>
        <p:spPr>
          <a:xfrm>
            <a:off x="777240" y="5650992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3B36"/>
                </a:solidFill>
              </a:rPr>
              <a:t>Переход между этапами — только после результата и управленческого решения. Задержка одного сценария не останавливает весь портфель.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9E7E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38404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2F8B7B"/>
                </a:solidFill>
              </a:rPr>
              <a:t>УПРАВЛЕНИЕ ЭФФЕКТОМ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" y="68580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8302C"/>
                </a:solidFill>
              </a:rPr>
              <a:t>Как измерим результат и примем решение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040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E7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ООО «НЭК ТЕХ» · Проект внедрения ИИ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21792" y="1783080"/>
            <a:ext cx="2331720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44752" y="2084832"/>
            <a:ext cx="694944" cy="694944"/>
          </a:xfrm>
          <a:prstGeom prst="ellipse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44752" y="2295144"/>
            <a:ext cx="6949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4672" y="30175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Экономия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33375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0746F"/>
                </a:solidFill>
              </a:rPr>
              <a:t>часы ручной работы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0746F"/>
                </a:solidFill>
              </a:rPr>
              <a:t>до / после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74720" y="1783080"/>
            <a:ext cx="2331720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0" y="2084832"/>
            <a:ext cx="694944" cy="694944"/>
          </a:xfrm>
          <a:prstGeom prst="ellipse">
            <a:avLst/>
          </a:prstGeom>
          <a:solidFill>
            <a:srgbClr val="E7B64C"/>
          </a:solidFill>
          <a:ln w="12700">
            <a:solidFill>
              <a:srgbClr val="E7B6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97680" y="2295144"/>
            <a:ext cx="6949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0" y="30175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Скорость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39312" y="33375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0746F"/>
                </a:solidFill>
              </a:rPr>
              <a:t>время обработки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0746F"/>
                </a:solidFill>
              </a:rPr>
              <a:t>заявки или документа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27648" y="1783080"/>
            <a:ext cx="2331720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50608" y="2084832"/>
            <a:ext cx="694944" cy="694944"/>
          </a:xfrm>
          <a:prstGeom prst="ellipse">
            <a:avLst/>
          </a:prstGeom>
          <a:solidFill>
            <a:srgbClr val="D46A58"/>
          </a:solidFill>
          <a:ln w="12700">
            <a:solidFill>
              <a:srgbClr val="D46A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50608" y="2295144"/>
            <a:ext cx="6949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10528" y="30175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Качество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92240" y="33375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0746F"/>
                </a:solidFill>
              </a:rPr>
              <a:t>ошибки, возвраты,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0746F"/>
                </a:solidFill>
              </a:rPr>
              <a:t>полнота результата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180576" y="1783080"/>
            <a:ext cx="2331720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03536" y="2084832"/>
            <a:ext cx="694944" cy="694944"/>
          </a:xfrm>
          <a:prstGeom prst="ellipse">
            <a:avLst/>
          </a:prstGeom>
          <a:solidFill>
            <a:srgbClr val="123B36"/>
          </a:solidFill>
          <a:ln w="12700">
            <a:solidFill>
              <a:srgbClr val="123B3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03536" y="2295144"/>
            <a:ext cx="6949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63456" y="30175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Использование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345168" y="33375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0746F"/>
                </a:solidFill>
              </a:rPr>
              <a:t>активные пользователи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0746F"/>
                </a:solidFill>
              </a:rPr>
              <a:t>и доля закрытых запросов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950976" y="4681728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B36"/>
                </a:solidFill>
              </a:rPr>
              <a:t>Правило: масштабируем только то, что показало подтверждённый эффект, соблюло ИБ-требования и получило владельца эксплуатации.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9E7E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B36"/>
          </a:solidFill>
          <a:ln w="12700">
            <a:solidFill>
              <a:srgbClr val="123B3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621792"/>
            <a:ext cx="1645920" cy="310896"/>
          </a:xfrm>
          <a:prstGeom prst="roundRect">
            <a:avLst>
              <a:gd name="adj" fmla="val 20588"/>
            </a:avLst>
          </a:prstGeom>
          <a:solidFill>
            <a:srgbClr val="E7B64C"/>
          </a:solidFill>
          <a:ln w="12700">
            <a:solidFill>
              <a:srgbClr val="E7B6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69037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РЕШЕНИЕ G0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85800" y="1298448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</a:rPr>
              <a:t>Что требуется утвердить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713232" y="2212848"/>
            <a:ext cx="3255264" cy="1335024"/>
          </a:xfrm>
          <a:prstGeom prst="roundRect">
            <a:avLst>
              <a:gd name="adj" fmla="val 4795"/>
            </a:avLst>
          </a:prstGeom>
          <a:solidFill>
            <a:srgbClr val="1E554D"/>
          </a:solidFill>
          <a:ln w="10160">
            <a:solidFill>
              <a:srgbClr val="3C786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414016"/>
            <a:ext cx="438912" cy="438912"/>
          </a:xfrm>
          <a:prstGeom prst="ellipse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532888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481328" y="2414016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Запуск первого этапа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96112" y="2944368"/>
            <a:ext cx="2788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D9E7E2"/>
                </a:solidFill>
              </a:rPr>
              <a:t>Обследование и подготовка пилотов после защиты паспорта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4315968" y="2212848"/>
            <a:ext cx="3255264" cy="1335024"/>
          </a:xfrm>
          <a:prstGeom prst="roundRect">
            <a:avLst>
              <a:gd name="adj" fmla="val 4795"/>
            </a:avLst>
          </a:prstGeom>
          <a:solidFill>
            <a:srgbClr val="1E554D"/>
          </a:solidFill>
          <a:ln w="10160">
            <a:solidFill>
              <a:srgbClr val="3C786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98848" y="2414016"/>
            <a:ext cx="438912" cy="438912"/>
          </a:xfrm>
          <a:prstGeom prst="ellipse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8848" y="2532888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84064" y="2414016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Роли и мандат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98848" y="2944368"/>
            <a:ext cx="2788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D9E7E2"/>
                </a:solidFill>
              </a:rPr>
              <a:t>Бизнес-заказчик, спонсор, руководитель проекта, AI-комитет</a:t>
            </a:r>
            <a:endParaRPr lang="en-US" sz="1120" dirty="0"/>
          </a:p>
        </p:txBody>
      </p:sp>
      <p:sp>
        <p:nvSpPr>
          <p:cNvPr id="16" name="Shape 14"/>
          <p:cNvSpPr/>
          <p:nvPr/>
        </p:nvSpPr>
        <p:spPr>
          <a:xfrm>
            <a:off x="713232" y="3950208"/>
            <a:ext cx="3255264" cy="1335024"/>
          </a:xfrm>
          <a:prstGeom prst="roundRect">
            <a:avLst>
              <a:gd name="adj" fmla="val 4795"/>
            </a:avLst>
          </a:prstGeom>
          <a:solidFill>
            <a:srgbClr val="1E554D"/>
          </a:solidFill>
          <a:ln w="10160">
            <a:solidFill>
              <a:srgbClr val="3C786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6112" y="4151376"/>
            <a:ext cx="438912" cy="438912"/>
          </a:xfrm>
          <a:prstGeom prst="ellipse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4270248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481328" y="4151376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Принцип безопасности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6112" y="4681728"/>
            <a:ext cx="2788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D9E7E2"/>
                </a:solidFill>
              </a:rPr>
              <a:t>Контролируемый контур для ПДн, КТ и конфиденциальных данных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4315968" y="3950208"/>
            <a:ext cx="3255264" cy="1335024"/>
          </a:xfrm>
          <a:prstGeom prst="roundRect">
            <a:avLst>
              <a:gd name="adj" fmla="val 4795"/>
            </a:avLst>
          </a:prstGeom>
          <a:solidFill>
            <a:srgbClr val="1E554D"/>
          </a:solidFill>
          <a:ln w="10160">
            <a:solidFill>
              <a:srgbClr val="3C786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98848" y="4151376"/>
            <a:ext cx="438912" cy="438912"/>
          </a:xfrm>
          <a:prstGeom prst="ellipse">
            <a:avLst/>
          </a:prstGeom>
          <a:solidFill>
            <a:srgbClr val="E7B64C"/>
          </a:solidFill>
          <a:ln w="12700">
            <a:solidFill>
              <a:srgbClr val="E7B64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98848" y="4270248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84064" y="4151376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Портфель пилотов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498848" y="4681728"/>
            <a:ext cx="2788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D9E7E2"/>
                </a:solidFill>
              </a:rPr>
              <a:t>2–3 сценария с владельцами, метриками и ИБ-допуском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8247888" y="2212848"/>
            <a:ext cx="3063240" cy="3072384"/>
          </a:xfrm>
          <a:prstGeom prst="roundRect">
            <a:avLst>
              <a:gd name="adj" fmla="val 2985"/>
            </a:avLst>
          </a:prstGeom>
          <a:solidFill>
            <a:srgbClr val="1E554D"/>
          </a:solidFill>
          <a:ln w="12700">
            <a:solidFill>
              <a:srgbClr val="3C786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0" y="261518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DE3D7"/>
                </a:solidFill>
              </a:rPr>
              <a:t>Не запрашивается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622792" y="3182112"/>
            <a:ext cx="2304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массовая закупка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или масштабирование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без подтверждённого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эффекта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694944" y="6199632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6C4BC"/>
                </a:solidFill>
              </a:rPr>
              <a:t>Следующий шаг — управляемый старт и проверка гипотез на пилотах.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ООО «НЭК ТЕХ»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Паспорт проекта внедрения ИИ — ООО «НЭК ТЕХ»</dc:title>
  <dc:subject>Защита паспорта проекта внедрения ИИ</dc:subject>
  <dc:creator>Hermes Agent</dc:creator>
  <cp:lastModifiedBy>Hermes Agent</cp:lastModifiedBy>
  <cp:revision>1</cp:revision>
  <dcterms:created xsi:type="dcterms:W3CDTF">2026-07-14T15:11:47Z</dcterms:created>
  <dcterms:modified xsi:type="dcterms:W3CDTF">2026-07-14T15:11:47Z</dcterms:modified>
</cp:coreProperties>
</file>