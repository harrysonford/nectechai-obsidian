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1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5B52"/>
          </a:solidFill>
          <a:ln w="12700">
            <a:solidFill>
              <a:srgbClr val="1D5B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" y="6437376"/>
            <a:ext cx="12045391" cy="420624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909560" y="-1005840"/>
            <a:ext cx="5303520" cy="5303520"/>
          </a:xfrm>
          <a:prstGeom prst="arc">
            <a:avLst/>
          </a:prstGeom>
          <a:noFill/>
          <a:ln w="88900">
            <a:solidFill>
              <a:srgbClr val="2F8B7B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500000">
            <a:off x="8869680" y="2423160"/>
            <a:ext cx="4389120" cy="4389120"/>
          </a:xfrm>
          <a:prstGeom prst="arc">
            <a:avLst/>
          </a:prstGeom>
          <a:noFill/>
          <a:ln w="38100">
            <a:solidFill>
              <a:srgbClr val="E7B64C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66928"/>
            <a:ext cx="2057400" cy="310896"/>
          </a:xfrm>
          <a:prstGeom prst="roundRect">
            <a:avLst>
              <a:gd name="adj" fmla="val 20588"/>
            </a:avLst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3550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К ЗАЩИТЕ В УПРАВЛЯЮЩЕЙ КОМПАНИИ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1261872"/>
            <a:ext cx="6583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Паспорт проекта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внедрения ИИ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4944" y="3063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E3D7"/>
                </a:solidFill>
              </a:rPr>
              <a:t>ООО «НЭК ТЕХ»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4944" y="37947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7E2"/>
                </a:solidFill>
              </a:rPr>
              <a:t>Управляемое внедрение: эффект для бизнеса + контроль данных и рисков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6099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C4BC"/>
                </a:solidFill>
              </a:rPr>
              <a:t>Рабочая версия · июль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КОНТЕКСТ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Почему проект нужен сейчас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4173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46F"/>
                </a:solidFill>
              </a:rPr>
              <a:t>Не «внедрение ИИ ради ИИ», а переход от стихийного использования к управляемому портфелю сценариев.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12064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2057400"/>
            <a:ext cx="91440" cy="3246120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0664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Эффективность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Документы, поиск знаний, обращения, отчётность и аналитика содержат повторяющуюся ручную работу. Потенциал — скорость, качество и контроль.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9976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9976" y="2057400"/>
            <a:ext cx="91440" cy="3246120"/>
          </a:xfrm>
          <a:prstGeom prst="rect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Распределённость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08576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~350 сотрудников в пяти городах. Единая база знаний и единые правила работы уменьшают потери на поиск и расхождения.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47888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47888" y="2057400"/>
            <a:ext cx="91440" cy="3246120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Риск shadow 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Публичные сервисы создают неконтролируемый канал для ПДн, КТ и конфиденциальной информации. Нужны разрешённые инструменты и правила.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ПРИНЦИП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Предлагаемый подход: управляемый и измеримый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B36"/>
                </a:solidFill>
              </a:rPr>
              <a:t>AI inside controlled perimeter — чувствительные данные не покидают разрешённую среду обработки.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64208" y="2084832"/>
            <a:ext cx="1225296" cy="122529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64208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05256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Эффект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Сценарий запускается только при понятной боли, владельце процесса и метрике «до / после».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5468112" y="2084832"/>
            <a:ext cx="1225296" cy="122529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68112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0916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Безопасность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53712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Класс данных, контур, доступы, журналы и проверка человеком определяются до пилота.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9272016" y="2084832"/>
            <a:ext cx="1225296" cy="122529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72016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513064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Масштабируемость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57616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Решение о развитии принимается по результатам пилота, а не по обещаниям поставщика.</a:t>
            </a:r>
            <a:endParaRPr lang="en-US" sz="12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ГРАНИЦЫ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Первый этап: обследование приоритетных подразделений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71600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0746F"/>
                </a:solidFill>
              </a:rPr>
              <a:t>Цель — собрать реальные боли, данные, ограничения и владельцев, а затем выбрать 2–3 пилота.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295144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371600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ИБ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49808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рамки, данные, допуск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3456432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39312" y="2295144"/>
            <a:ext cx="493776" cy="49377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61104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ИТ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39312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инфраструктура, Service Desk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345936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8816" y="2295144"/>
            <a:ext cx="493776" cy="49377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28816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50608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Разработка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28816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код и техдокументация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9235440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18320" y="2295144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0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40112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Финансы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418320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аналитика, контроль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2011680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4251960"/>
            <a:ext cx="493776" cy="49377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0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816352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Бухгалтерия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194560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первичка, сверки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4928616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11496" y="4251960"/>
            <a:ext cx="493776" cy="49377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11496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33288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PR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111496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контент, мониторинг</a:t>
            </a:r>
            <a:endParaRPr lang="en-US" sz="1130" dirty="0"/>
          </a:p>
        </p:txBody>
      </p:sp>
      <p:sp>
        <p:nvSpPr>
          <p:cNvPr id="36" name="Shape 34"/>
          <p:cNvSpPr/>
          <p:nvPr/>
        </p:nvSpPr>
        <p:spPr>
          <a:xfrm>
            <a:off x="7845552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28432" y="4251960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28432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7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50224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GR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028432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НПА, справки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ПЕРВЫЕ РЕЗУЛЬТАТЫ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Стартовый портфель пилотов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2064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600200"/>
            <a:ext cx="91440" cy="3584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Запуск 1 · Пилот 3: PR/GR-мониторинг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0664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Сбор и резюмирование открытой повестки, тематическая классификация, дайджесты.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Преимущество: быстрый результат при минимальном ИБ-риске.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4361688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1688" y="1600200"/>
            <a:ext cx="91440" cy="3584448"/>
          </a:xfrm>
          <a:prstGeom prst="rect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Запуск 2 · Пилот 1: AI-ассистент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0288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Ответы по внутренним регламентам с обязательными ссылками на источники и ролевым доступом.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Контур: RAG внутри разрешённой среды.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8211312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11312" y="1600200"/>
            <a:ext cx="91440" cy="3584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Запуск 3 · Пилот 2: Service Desk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9912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Классификация заявок, поиск решений и помощь оператору.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Эффект: время ответа, нагрузка и качество классификации.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694944" y="55961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i="1" dirty="0">
                <a:solidFill>
                  <a:srgbClr val="60746F"/>
                </a:solidFill>
              </a:rPr>
              <a:t>Пилот 4 · бухгалтерская первичка — кандидат следующей волны после оценки ПДн/КТ, интеграций и качества данных.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STAGE-GATE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Гибкий roadmap: сроки от решения, а не «по календарю»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60746F"/>
                </a:solidFill>
              </a:rPr>
              <a:t>T0 = формальное одобрение управляющей компании. До T0 идёт подготовка и защита паспорта; календарные даты не фиксируются.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084832"/>
            <a:ext cx="91440" cy="1298448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G0 · Защита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до T0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решение УК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4370832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1 · Мобилизация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+ 0–2 недели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роли и план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8083296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11896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2 · Диагностика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11896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+ 2–6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процессы и данные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58368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3 · Выбор пилотов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+ 5–8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приоритеты и допуск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4370832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70832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4 · Запуск MVP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99432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+ 7–14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MVP и метрики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8083296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83296" y="3858768"/>
            <a:ext cx="91440" cy="1298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G4 · Решение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11896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+ 13–16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масштаб / стоп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777240" y="5650992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B36"/>
                </a:solidFill>
              </a:rPr>
              <a:t>Переход между этапами — только после результата и управленческого решения. Задержка одного сценария не останавливает весь портфель.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УПРАВЛЕНИЕ ЭФФЕКТОМ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Как измерим результат и примем решение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44752" y="2084832"/>
            <a:ext cx="694944" cy="694944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Экономия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часы ручной работы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до / после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084832"/>
            <a:ext cx="694944" cy="694944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Скорость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39312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время обработки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заявки или документа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27648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50608" y="2084832"/>
            <a:ext cx="694944" cy="694944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50608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Качество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ошибки, возвраты,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полнота результата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80576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03536" y="2084832"/>
            <a:ext cx="694944" cy="694944"/>
          </a:xfrm>
          <a:prstGeom prst="ellipse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03536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63456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Использование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45168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активные пользователи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и доля закрытых запросов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50976" y="468172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B36"/>
                </a:solidFill>
              </a:rPr>
              <a:t>Правило: масштабируем только то, что показало подтверждённый эффект, соблюло ИБ-требования и получило владельца эксплуатации.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621792"/>
            <a:ext cx="1645920" cy="310896"/>
          </a:xfrm>
          <a:prstGeom prst="roundRect">
            <a:avLst>
              <a:gd name="adj" fmla="val 20588"/>
            </a:avLst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6903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РЕШЕНИЕ G0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Что требуется утвердить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13232" y="221284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1401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5328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81328" y="241401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Запуск первого этапа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294436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Фаза 0 (CPU-пилот) + обследование после защиты паспорта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4315968" y="221284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98848" y="241401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848" y="25328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84064" y="241401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Роли и мандат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98848" y="294436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Бизнес-заказчик, спонсор, руководитель проекта, AI-комитет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13232" y="395020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415137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42702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81328" y="415137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Принцип безопасности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68172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Контролируемый контур для ПДн, КТ и конфиденциальных данных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4315968" y="395020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98848" y="4151376"/>
            <a:ext cx="438912" cy="438912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98848" y="42702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84064" y="415137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Портфель пилотов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98848" y="468172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2–3 сценария с владельцами, метриками и ИБ-допуском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8247888" y="2212848"/>
            <a:ext cx="3063240" cy="3072384"/>
          </a:xfrm>
          <a:prstGeom prst="roundRect">
            <a:avLst>
              <a:gd name="adj" fmla="val 2985"/>
            </a:avLst>
          </a:prstGeom>
          <a:solidFill>
            <a:srgbClr val="1E554D"/>
          </a:solidFill>
          <a:ln w="12700">
            <a:solidFill>
              <a:srgbClr val="3C78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0" y="261518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DE3D7"/>
                </a:solidFill>
              </a:rPr>
              <a:t>Не запрашивается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22792" y="3182112"/>
            <a:ext cx="2304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крупный бюджет на G0, массовая закупка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или масштабирование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без подтверждённого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эффекта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94944" y="619963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C4BC"/>
                </a:solidFill>
              </a:rPr>
              <a:t>Двухступенчато: безусловно ≈12 млн ₽ (Фаза 0 + обследование); GPU ≈22 млн ₽ — только после Gate Ф0. Бюджет Этапа 1 — 80,9 млн ₽.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ФАЗА 0 · ПРОВЕРКА ПЕРЕД ЗАКУПКОЙ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Сначала спрос на бесплатном стеке — потом закупка GPU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60746F"/>
                </a:solidFill>
              </a:rPr>
              <a:t>6–10 недель на OpenWebUI + Qwen3.5 (открытые веса) на CPU, без GPU. Проверяем UX и спрос на фокус-группе, собираем сценарии.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084832"/>
            <a:ext cx="91440" cy="1298448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Стек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OpenWebUI + Qwen3.5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CPU, 0 ₽ лицензий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4370832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Модель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Qwen3.5 4B/9B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или 35B-A3B (MoE)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8083296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11896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Фокус-группа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11896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15–20 сотрудников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CSAT, SUS, сценарии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58368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Только публичные данные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CPU-контур не под ПДн/КТ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контроль ИБ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4370832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70832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Gate Ф0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99432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CSAT≥70%, ≥3 подр.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решение о GPU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8083296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83296" y="3858768"/>
            <a:ext cx="91440" cy="1298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Если «нет»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11896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GPU не закупаем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экономия ≈22 млн ₽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777240" y="5650992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B36"/>
                </a:solidFill>
              </a:rPr>
              <a:t>Дорогую GPU-инфраструктуру (≈22 млн ₽) закупаем только после подтверждения спроса. Потери при отрицательном исходе ограничены Фазой 0 (≈1,4 млн ₽).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4а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ООО «НЭК ТЕХ»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Паспорт проекта внедрения ИИ — ООО «НЭК ТЕХ»</dc:title>
  <dc:subject>Защита паспорта проекта внедрения ИИ</dc:subject>
  <dc:creator>Hermes Agent</dc:creator>
  <cp:lastModifiedBy>Hermes Agent</cp:lastModifiedBy>
  <cp:revision>1</cp:revision>
  <dcterms:created xsi:type="dcterms:W3CDTF">2026-07-14T15:11:47Z</dcterms:created>
  <dcterms:modified xsi:type="dcterms:W3CDTF">2026-07-14T15:11:47Z</dcterms:modified>
</cp:coreProperties>
</file>